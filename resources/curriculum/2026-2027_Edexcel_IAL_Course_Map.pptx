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9a9a3a9ffa4a7d" /><Relationship Type="http://schemas.openxmlformats.org/officeDocument/2006/relationships/extended-properties" Target="/docProps/app.xml" Id="R5d597f1c8f244041" /><Relationship Type="http://schemas.openxmlformats.org/officeDocument/2006/relationships/officeDocument" Target="/ppt/presentation.xml" Id="R34067fd466324e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b67b8c323642a0"/>
  </p:sldMasterIdLst>
  <p:notesMasterIdLst>
    <p:notesMasterId xmlns:r="http://schemas.openxmlformats.org/officeDocument/2006/relationships" r:id="R4e0f9b02198c4ae7"/>
  </p:notesMasterIdLst>
  <p:sldIdLst>
    <p:sldId xmlns:r="http://schemas.openxmlformats.org/officeDocument/2006/relationships" id="256" r:id="R3920967737484af9"/>
  </p:sldIdLst>
  <p:sldSz cx="1512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f0933393c446d1" /><Relationship Type="http://schemas.openxmlformats.org/officeDocument/2006/relationships/slideMaster" Target="/ppt/slideMasters/slideMaster1.xml" Id="R63b67b8c323642a0" /><Relationship Type="http://schemas.openxmlformats.org/officeDocument/2006/relationships/notesMaster" Target="/ppt/notesMasters/notesMaster1.xml" Id="R4e0f9b02198c4ae7" /><Relationship Type="http://schemas.openxmlformats.org/officeDocument/2006/relationships/presProps" Target="/ppt/presProps.xml" Id="R23f8258ec7d1435a" /><Relationship Type="http://schemas.openxmlformats.org/officeDocument/2006/relationships/tableStyles" Target="/ppt/tableStyles.xml" Id="Rd6e66d91c8834a6e" /><Relationship Type="http://schemas.openxmlformats.org/officeDocument/2006/relationships/slide" Target="/ppt/slides/slide1.xml" Id="R3920967737484a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aafc9e69e54e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27c1ab1404fa2" /><Relationship Type="http://schemas.openxmlformats.org/officeDocument/2006/relationships/notesMaster" Target="/ppt/notesMasters/notesMaster1.xml" Id="R457f7bec26e949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teacher-supplied 2627_PHY_Annual_Teaching_Plan_0828_F4BC.docx. The published original DOCX is byte-identical to this supplied source. Topic alignment and seven summary rows follow curriculum-map-data.js, checked 16 October 2026. Official reference: https://qualifications.pearson.com/content/dam/pdf/International%20Advanced%20Level/Physics/2018/Specification%20and%20Sample%20Assessment/9781446957783_IAL_Physics_Iss3.pdf . The map describes planned objectives, not completed teaching, assessed mastery or whole-unit coverage. All text cells and row shapes are editable native presentation objects; Arial supports Canva import. The local DOCX footer is plain text because relative file hyperlinks do not survive Canva import reliably.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6127c9f1047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34e29aa7a43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f8cfdbfaf4a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a6e096b0648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b1155d58d45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da4b0023144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1CA0AC-862E-40DD-807F-26BA7D1A6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000" y="4039200"/>
            <a:ext cx="12096000" cy="15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37D809-E9CC-46C4-B21B-F65F00D939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8000" y="5880600"/>
            <a:ext cx="10584000" cy="11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E32182-1914-4554-869B-5155CCE92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000" y="4455000"/>
            <a:ext cx="12096000" cy="178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08F0A7-B37D-4A53-9CDB-ED01CE92A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CA7CE8-8765-459A-9E93-22060B5C3E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13419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6D12DF-61B9-4BCE-B8B0-23CE341C1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73092F-CE6C-4507-BA0D-B361BABFDD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9E00B7-717E-460A-BC41-C0A6E881BB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32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FA9090-8EB0-4D9B-BBE0-0D8DEE941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D71DA6-E946-45CD-8DFD-ED97BC377D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7ba441dd3c4511" /><Relationship Type="http://schemas.openxmlformats.org/officeDocument/2006/relationships/slideLayout" Target="/ppt/slideLayouts/slideLayout1.xml" Id="R2f07e96a645f4b39" /><Relationship Type="http://schemas.openxmlformats.org/officeDocument/2006/relationships/slideLayout" Target="/ppt/slideLayouts/slideLayout2.xml" Id="Ra0ff49d641484436" /><Relationship Type="http://schemas.openxmlformats.org/officeDocument/2006/relationships/slideLayout" Target="/ppt/slideLayouts/slideLayout3.xml" Id="R9023651a6bde47bf" /><Relationship Type="http://schemas.openxmlformats.org/officeDocument/2006/relationships/slideLayout" Target="/ppt/slideLayouts/slideLayout4.xml" Id="R3626eb9349bb4722" /><Relationship Type="http://schemas.openxmlformats.org/officeDocument/2006/relationships/slideLayout" Target="/ppt/slideLayouts/slideLayout5.xml" Id="R108fa5389de64a3d" /><Relationship Type="http://schemas.openxmlformats.org/officeDocument/2006/relationships/slideLayout" Target="/ppt/slideLayouts/slideLayout6.xml" Id="R5c110d38b28b40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7e96a645f4b39"/>
    <p:sldLayoutId xmlns:r="http://schemas.openxmlformats.org/officeDocument/2006/relationships" id="2147483650" r:id="Ra0ff49d641484436"/>
    <p:sldLayoutId xmlns:r="http://schemas.openxmlformats.org/officeDocument/2006/relationships" id="2147483651" r:id="R9023651a6bde47bf"/>
    <p:sldLayoutId xmlns:r="http://schemas.openxmlformats.org/officeDocument/2006/relationships" id="2147483652" r:id="R3626eb9349bb4722"/>
    <p:sldLayoutId xmlns:r="http://schemas.openxmlformats.org/officeDocument/2006/relationships" id="2147483653" r:id="R108fa5389de64a3d"/>
    <p:sldLayoutId xmlns:r="http://schemas.openxmlformats.org/officeDocument/2006/relationships" id="2147483654" r:id="R5c110d38b28b40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7adf11d8e43a4" /><Relationship Type="http://schemas.openxmlformats.org/officeDocument/2006/relationships/hyperlink" Target="https://qualifications.pearson.com/content/dam/pdf/International%20Advanced%20Level/Physics/2018/Specification%20and%20Sample%20Assessment/9781446957783_IAL_Physics_Iss3.pdf" TargetMode="External" Id="R440403dc055b4cb9" /><Relationship Type="http://schemas.openxmlformats.org/officeDocument/2006/relationships/notesSlide" Target="/ppt/notesSlides/notesSlide1.xml" Id="R62a189c6a6f849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map-text-2">
            <a:extLst xmlns:a="http://schemas.openxmlformats.org/drawingml/2006/main">
              <a:ext uri="{FF2B5EF4-FFF2-40B4-BE49-F238E27FC236}">
                <a16:creationId xmlns:a16="http://schemas.microsoft.com/office/drawing/2014/main" id="{17E4135D-C18F-4DA7-9AE2-5A51D757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344520"/>
            <a:ext cx="2933859" cy="28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6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46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346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FORM 4  /  ANNUAL COURSE MAP</a:t>
            </a:r>
          </a:p>
        </p:txBody>
      </p:sp>
      <p:sp>
        <p:nvSpPr>
          <p:cNvPr id="2" name="map-text-3">
            <a:extLst xmlns:a="http://schemas.openxmlformats.org/drawingml/2006/main">
              <a:ext uri="{FF2B5EF4-FFF2-40B4-BE49-F238E27FC236}">
                <a16:creationId xmlns:a16="http://schemas.microsoft.com/office/drawing/2014/main" id="{CD824D76-640E-4811-B697-EFD53191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141" y="360360"/>
            <a:ext cx="2771859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SOURCE AUDIT  ·  16 OCTOBER 2026</a:t>
            </a:r>
          </a:p>
        </p:txBody>
      </p:sp>
      <p:sp>
        <p:nvSpPr>
          <p:cNvPr id="3" name="map-text-4">
            <a:extLst xmlns:a="http://schemas.openxmlformats.org/drawingml/2006/main">
              <a:ext uri="{FF2B5EF4-FFF2-40B4-BE49-F238E27FC236}">
                <a16:creationId xmlns:a16="http://schemas.microsoft.com/office/drawing/2014/main" id="{9720A058-76F7-4653-B0E3-219EBEF2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44400"/>
            <a:ext cx="3924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98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898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3898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2026/27 Physics</a:t>
            </a:r>
          </a:p>
        </p:txBody>
      </p:sp>
      <p:sp>
        <p:nvSpPr>
          <p:cNvPr id="4" name="map-text-5">
            <a:extLst xmlns:a="http://schemas.openxmlformats.org/drawingml/2006/main">
              <a:ext uri="{FF2B5EF4-FFF2-40B4-BE49-F238E27FC236}">
                <a16:creationId xmlns:a16="http://schemas.microsoft.com/office/drawing/2014/main" id="{1AEAED44-76F4-49C9-92BD-CDDC0E23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239480"/>
            <a:ext cx="5615438" cy="43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9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219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School plan → Edexcel International A Level</a:t>
            </a:r>
          </a:p>
        </p:txBody>
      </p:sp>
      <p:sp>
        <p:nvSpPr>
          <p:cNvPr id="5" name="map-text-6">
            <a:extLst xmlns:a="http://schemas.openxmlformats.org/drawingml/2006/main">
              <a:ext uri="{FF2B5EF4-FFF2-40B4-BE49-F238E27FC236}">
                <a16:creationId xmlns:a16="http://schemas.microsoft.com/office/drawing/2014/main" id="{F2A8B437-B020-4AA7-AD27-D45BE4DF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704600"/>
            <a:ext cx="8279859" cy="2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Basis: the original school annual plan and Pearson IAL Physics 2018 specification, Issue 3 (July 2021).</a:t>
            </a:r>
          </a:p>
        </p:txBody>
      </p:sp>
      <p:sp>
        <p:nvSpPr>
          <p:cNvPr id="6" name="map-line-7">
            <a:extLst xmlns:a="http://schemas.openxmlformats.org/drawingml/2006/main">
              <a:ext uri="{FF2B5EF4-FFF2-40B4-BE49-F238E27FC236}">
                <a16:creationId xmlns:a16="http://schemas.microsoft.com/office/drawing/2014/main" id="{60F8C1DD-F0AB-4BC0-B9B0-7F7CA710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079000"/>
            <a:ext cx="66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000">
            <a:solidFill>
              <a:srgbClr val="B52643"/>
            </a:solidFill>
          </a:ln>
        </p:spPr>
      </p:sp>
      <p:sp>
        <p:nvSpPr>
          <p:cNvPr id="7" name="map-text-8">
            <a:extLst xmlns:a="http://schemas.openxmlformats.org/drawingml/2006/main">
              <a:ext uri="{FF2B5EF4-FFF2-40B4-BE49-F238E27FC236}">
                <a16:creationId xmlns:a16="http://schemas.microsoft.com/office/drawing/2014/main" id="{E354F244-C4FE-48A6-9EE4-C226DECA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000" y="1826280"/>
            <a:ext cx="225900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4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34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134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SELECTED TOPIC ALIGNMENT</a:t>
            </a:r>
          </a:p>
        </p:txBody>
      </p:sp>
      <p:sp>
        <p:nvSpPr>
          <p:cNvPr id="8" name="map-text-9">
            <a:extLst xmlns:a="http://schemas.openxmlformats.org/drawingml/2006/main">
              <a:ext uri="{FF2B5EF4-FFF2-40B4-BE49-F238E27FC236}">
                <a16:creationId xmlns:a16="http://schemas.microsoft.com/office/drawing/2014/main" id="{0E66D0C4-F717-4419-ABE0-E30C7936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349360"/>
            <a:ext cx="639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WEEKS</a:t>
            </a:r>
          </a:p>
        </p:txBody>
      </p:sp>
      <p:sp>
        <p:nvSpPr>
          <p:cNvPr id="9" name="map-text-10">
            <a:extLst xmlns:a="http://schemas.openxmlformats.org/drawingml/2006/main">
              <a:ext uri="{FF2B5EF4-FFF2-40B4-BE49-F238E27FC236}">
                <a16:creationId xmlns:a16="http://schemas.microsoft.com/office/drawing/2014/main" id="{5AAC20B4-DB56-4074-ADE7-8C15B7F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000" y="2349360"/>
            <a:ext cx="1746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SCHOOL PLAN FOCUS</a:t>
            </a:r>
          </a:p>
        </p:txBody>
      </p:sp>
      <p:sp>
        <p:nvSpPr>
          <p:cNvPr id="10" name="map-text-11">
            <a:extLst xmlns:a="http://schemas.openxmlformats.org/drawingml/2006/main">
              <a:ext uri="{FF2B5EF4-FFF2-40B4-BE49-F238E27FC236}">
                <a16:creationId xmlns:a16="http://schemas.microsoft.com/office/drawing/2014/main" id="{9F332180-3E1B-49D5-AEF5-CD8C48AC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00" y="2349360"/>
            <a:ext cx="1665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SELECTED IAL LINKS</a:t>
            </a:r>
          </a:p>
        </p:txBody>
      </p:sp>
      <p:sp>
        <p:nvSpPr>
          <p:cNvPr id="11" name="map-text-12">
            <a:extLst xmlns:a="http://schemas.openxmlformats.org/drawingml/2006/main">
              <a:ext uri="{FF2B5EF4-FFF2-40B4-BE49-F238E27FC236}">
                <a16:creationId xmlns:a16="http://schemas.microsoft.com/office/drawing/2014/main" id="{338597CD-9A70-4DE8-B8F0-A3F8A86D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000" y="2349360"/>
            <a:ext cx="1530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TOPIC JUDGEMENT</a:t>
            </a:r>
          </a:p>
        </p:txBody>
      </p:sp>
      <p:sp>
        <p:nvSpPr>
          <p:cNvPr id="12" name="map-text-13">
            <a:extLst xmlns:a="http://schemas.openxmlformats.org/drawingml/2006/main">
              <a:ext uri="{FF2B5EF4-FFF2-40B4-BE49-F238E27FC236}">
                <a16:creationId xmlns:a16="http://schemas.microsoft.com/office/drawing/2014/main" id="{46C2A9B8-8813-4ED2-8448-3D9B6391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2349360"/>
            <a:ext cx="1665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NEXT DEVELOPMENT</a:t>
            </a:r>
          </a:p>
        </p:txBody>
      </p:sp>
      <p:sp>
        <p:nvSpPr>
          <p:cNvPr id="13" name="map-line-14">
            <a:extLst xmlns:a="http://schemas.openxmlformats.org/drawingml/2006/main">
              <a:ext uri="{FF2B5EF4-FFF2-40B4-BE49-F238E27FC236}">
                <a16:creationId xmlns:a16="http://schemas.microsoft.com/office/drawing/2014/main" id="{840A10A6-AC69-4196-B63A-BDBC01AF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646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500">
            <a:solidFill>
              <a:srgbClr val="172E4D"/>
            </a:solidFill>
          </a:ln>
        </p:spPr>
      </p:sp>
      <p:sp>
        <p:nvSpPr>
          <p:cNvPr id="14" name="map-rect-15">
            <a:extLst xmlns:a="http://schemas.openxmlformats.org/drawingml/2006/main">
              <a:ext uri="{FF2B5EF4-FFF2-40B4-BE49-F238E27FC236}">
                <a16:creationId xmlns:a16="http://schemas.microsoft.com/office/drawing/2014/main" id="{56768C83-2C1E-44E5-A4FA-E67CB448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727000"/>
            <a:ext cx="14112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B"/>
          </a:solidFill>
          <a:ln xmlns:a="http://schemas.openxmlformats.org/drawingml/2006/main" w="0">
            <a:noFill/>
          </a:ln>
        </p:spPr>
      </p:sp>
      <p:sp>
        <p:nvSpPr>
          <p:cNvPr id="15" name="map-rect-16">
            <a:extLst xmlns:a="http://schemas.openxmlformats.org/drawingml/2006/main">
              <a:ext uri="{FF2B5EF4-FFF2-40B4-BE49-F238E27FC236}">
                <a16:creationId xmlns:a16="http://schemas.microsoft.com/office/drawing/2014/main" id="{48D3F371-B5F8-41A4-9490-0400DEF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2727000"/>
            <a:ext cx="36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BD"/>
          </a:solidFill>
          <a:ln xmlns:a="http://schemas.openxmlformats.org/drawingml/2006/main" w="0">
            <a:noFill/>
          </a:ln>
        </p:spPr>
      </p:sp>
      <p:sp>
        <p:nvSpPr>
          <p:cNvPr id="16" name="map-text-17">
            <a:extLst xmlns:a="http://schemas.openxmlformats.org/drawingml/2006/main">
              <a:ext uri="{FF2B5EF4-FFF2-40B4-BE49-F238E27FC236}">
                <a16:creationId xmlns:a16="http://schemas.microsoft.com/office/drawing/2014/main" id="{9EE3CFFD-90CC-42AE-B162-B77D61B0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2974320"/>
            <a:ext cx="6660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2055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1–10</a:t>
            </a:r>
          </a:p>
        </p:txBody>
      </p:sp>
      <p:sp>
        <p:nvSpPr>
          <p:cNvPr id="17" name="focus-mechanics">
            <a:extLst xmlns:a="http://schemas.openxmlformats.org/drawingml/2006/main">
              <a:ext uri="{FF2B5EF4-FFF2-40B4-BE49-F238E27FC236}">
                <a16:creationId xmlns:a16="http://schemas.microsoft.com/office/drawing/2014/main" id="{2C2CC1CB-D7BD-43D6-8956-7FDD7FDC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000" y="2888100"/>
            <a:ext cx="29700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Motion, forces, momentum and</a:t>
            </a:r>
          </a:p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moments</a:t>
            </a:r>
          </a:p>
        </p:txBody>
      </p:sp>
      <p:sp>
        <p:nvSpPr>
          <p:cNvPr id="18" name="ial-mechanics">
            <a:extLst xmlns:a="http://schemas.openxmlformats.org/drawingml/2006/main">
              <a:ext uri="{FF2B5EF4-FFF2-40B4-BE49-F238E27FC236}">
                <a16:creationId xmlns:a16="http://schemas.microsoft.com/office/drawing/2014/main" id="{7FFA689A-EF6F-4B7C-B1CD-8D581926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00" y="2902500"/>
            <a:ext cx="324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Selected Unit 1 mechanics + Unit 4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momentum</a:t>
            </a:r>
          </a:p>
        </p:txBody>
      </p:sp>
      <p:sp>
        <p:nvSpPr>
          <p:cNvPr id="19" name="map-circle-18">
            <a:extLst xmlns:a="http://schemas.openxmlformats.org/drawingml/2006/main">
              <a:ext uri="{FF2B5EF4-FFF2-40B4-BE49-F238E27FC236}">
                <a16:creationId xmlns:a16="http://schemas.microsoft.com/office/drawing/2014/main" id="{DE2C25C3-24F1-4978-A33B-79DD8B92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00" y="3069000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7BD"/>
          </a:solidFill>
          <a:ln xmlns:a="http://schemas.openxmlformats.org/drawingml/2006/main" w="0">
            <a:noFill/>
          </a:ln>
        </p:spPr>
      </p:sp>
      <p:sp>
        <p:nvSpPr>
          <p:cNvPr id="20" name="match-mechanics">
            <a:extLst xmlns:a="http://schemas.openxmlformats.org/drawingml/2006/main">
              <a:ext uri="{FF2B5EF4-FFF2-40B4-BE49-F238E27FC236}">
                <a16:creationId xmlns:a16="http://schemas.microsoft.com/office/drawing/2014/main" id="{076BDFDA-AE89-471C-86E7-BA2A14BD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000" y="2907000"/>
            <a:ext cx="1710000" cy="51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Substantial topic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21" name="development-mechanics">
            <a:extLst xmlns:a="http://schemas.openxmlformats.org/drawingml/2006/main">
              <a:ext uri="{FF2B5EF4-FFF2-40B4-BE49-F238E27FC236}">
                <a16:creationId xmlns:a16="http://schemas.microsoft.com/office/drawing/2014/main" id="{6C340355-8F22-4071-8151-8E25A259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2902500"/>
            <a:ext cx="387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Make graph skills and projectile coverage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explicit.</a:t>
            </a:r>
          </a:p>
        </p:txBody>
      </p:sp>
      <p:sp>
        <p:nvSpPr>
          <p:cNvPr id="22" name="map-line-19">
            <a:extLst xmlns:a="http://schemas.openxmlformats.org/drawingml/2006/main">
              <a:ext uri="{FF2B5EF4-FFF2-40B4-BE49-F238E27FC236}">
                <a16:creationId xmlns:a16="http://schemas.microsoft.com/office/drawing/2014/main" id="{3C22B343-F1A7-410E-995F-935F6B3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3501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00">
            <a:solidFill>
              <a:srgbClr val="DCE3EC"/>
            </a:solidFill>
          </a:ln>
        </p:spPr>
      </p:sp>
      <p:sp>
        <p:nvSpPr>
          <p:cNvPr id="23" name="map-rect-20">
            <a:extLst xmlns:a="http://schemas.openxmlformats.org/drawingml/2006/main">
              <a:ext uri="{FF2B5EF4-FFF2-40B4-BE49-F238E27FC236}">
                <a16:creationId xmlns:a16="http://schemas.microsoft.com/office/drawing/2014/main" id="{AD71DD58-FC62-4379-B9F9-F638F5C3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3501000"/>
            <a:ext cx="36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BD"/>
          </a:solidFill>
          <a:ln xmlns:a="http://schemas.openxmlformats.org/drawingml/2006/main" w="0">
            <a:noFill/>
          </a:ln>
        </p:spPr>
      </p:sp>
      <p:sp>
        <p:nvSpPr>
          <p:cNvPr id="24" name="map-text-21">
            <a:extLst xmlns:a="http://schemas.openxmlformats.org/drawingml/2006/main">
              <a:ext uri="{FF2B5EF4-FFF2-40B4-BE49-F238E27FC236}">
                <a16:creationId xmlns:a16="http://schemas.microsoft.com/office/drawing/2014/main" id="{DACC78E6-8B48-4A94-81D1-7E07C2BC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3748320"/>
            <a:ext cx="809719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2055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11–17</a:t>
            </a:r>
          </a:p>
        </p:txBody>
      </p:sp>
      <p:sp>
        <p:nvSpPr>
          <p:cNvPr id="25" name="focus-energy">
            <a:extLst xmlns:a="http://schemas.openxmlformats.org/drawingml/2006/main">
              <a:ext uri="{FF2B5EF4-FFF2-40B4-BE49-F238E27FC236}">
                <a16:creationId xmlns:a16="http://schemas.microsoft.com/office/drawing/2014/main" id="{2687197D-A3F5-4982-9B34-6075B53E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000" y="3662100"/>
            <a:ext cx="29700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Energy, work, power and</a:t>
            </a:r>
          </a:p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6" name="ial-energy">
            <a:extLst xmlns:a="http://schemas.openxmlformats.org/drawingml/2006/main">
              <a:ext uri="{FF2B5EF4-FFF2-40B4-BE49-F238E27FC236}">
                <a16:creationId xmlns:a16="http://schemas.microsoft.com/office/drawing/2014/main" id="{A1430B1B-610B-4206-A25D-251B2427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00" y="3789000"/>
            <a:ext cx="3240000" cy="2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Unit 1 energy and efficiency</a:t>
            </a:r>
          </a:p>
        </p:txBody>
      </p:sp>
      <p:sp>
        <p:nvSpPr>
          <p:cNvPr id="27" name="map-circle-22">
            <a:extLst xmlns:a="http://schemas.openxmlformats.org/drawingml/2006/main">
              <a:ext uri="{FF2B5EF4-FFF2-40B4-BE49-F238E27FC236}">
                <a16:creationId xmlns:a16="http://schemas.microsoft.com/office/drawing/2014/main" id="{004F3A63-4976-4787-8D4D-C2FAD2CB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00" y="3843000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7BD"/>
          </a:solidFill>
          <a:ln xmlns:a="http://schemas.openxmlformats.org/drawingml/2006/main" w="0">
            <a:noFill/>
          </a:ln>
        </p:spPr>
      </p:sp>
      <p:sp>
        <p:nvSpPr>
          <p:cNvPr id="28" name="match-energy">
            <a:extLst xmlns:a="http://schemas.openxmlformats.org/drawingml/2006/main">
              <a:ext uri="{FF2B5EF4-FFF2-40B4-BE49-F238E27FC236}">
                <a16:creationId xmlns:a16="http://schemas.microsoft.com/office/drawing/2014/main" id="{42891B42-5C41-4180-9590-C8166CB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000" y="3681000"/>
            <a:ext cx="1710000" cy="51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Substantial topic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29" name="development-energy">
            <a:extLst xmlns:a="http://schemas.openxmlformats.org/drawingml/2006/main">
              <a:ext uri="{FF2B5EF4-FFF2-40B4-BE49-F238E27FC236}">
                <a16:creationId xmlns:a16="http://schemas.microsoft.com/office/drawing/2014/main" id="{F5050379-440B-4F61-88EF-9DDA0B96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3676500"/>
            <a:ext cx="387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Develop angled-force work and quantitative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applications.</a:t>
            </a:r>
          </a:p>
        </p:txBody>
      </p:sp>
      <p:sp>
        <p:nvSpPr>
          <p:cNvPr id="30" name="map-line-23">
            <a:extLst xmlns:a="http://schemas.openxmlformats.org/drawingml/2006/main">
              <a:ext uri="{FF2B5EF4-FFF2-40B4-BE49-F238E27FC236}">
                <a16:creationId xmlns:a16="http://schemas.microsoft.com/office/drawing/2014/main" id="{61270FC9-C0EF-45B0-9648-4433F3C4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4275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00">
            <a:solidFill>
              <a:srgbClr val="DCE3EC"/>
            </a:solidFill>
          </a:ln>
        </p:spPr>
      </p:sp>
      <p:sp>
        <p:nvSpPr>
          <p:cNvPr id="31" name="map-rect-24">
            <a:extLst xmlns:a="http://schemas.openxmlformats.org/drawingml/2006/main">
              <a:ext uri="{FF2B5EF4-FFF2-40B4-BE49-F238E27FC236}">
                <a16:creationId xmlns:a16="http://schemas.microsoft.com/office/drawing/2014/main" id="{B5E68755-1F77-45B0-883F-5122CF3B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4275000"/>
            <a:ext cx="14112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B"/>
          </a:solidFill>
          <a:ln xmlns:a="http://schemas.openxmlformats.org/drawingml/2006/main" w="0">
            <a:noFill/>
          </a:ln>
        </p:spPr>
      </p:sp>
      <p:sp>
        <p:nvSpPr>
          <p:cNvPr id="32" name="map-rect-25">
            <a:extLst xmlns:a="http://schemas.openxmlformats.org/drawingml/2006/main">
              <a:ext uri="{FF2B5EF4-FFF2-40B4-BE49-F238E27FC236}">
                <a16:creationId xmlns:a16="http://schemas.microsoft.com/office/drawing/2014/main" id="{26B1F7C9-E947-4941-8C02-4489B00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4275000"/>
            <a:ext cx="36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</a:ln>
        </p:spPr>
      </p:sp>
      <p:sp>
        <p:nvSpPr>
          <p:cNvPr id="33" name="map-text-26">
            <a:extLst xmlns:a="http://schemas.openxmlformats.org/drawingml/2006/main">
              <a:ext uri="{FF2B5EF4-FFF2-40B4-BE49-F238E27FC236}">
                <a16:creationId xmlns:a16="http://schemas.microsoft.com/office/drawing/2014/main" id="{B4DD3BBB-EA55-4749-B256-4FB0A31F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4522320"/>
            <a:ext cx="8100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2055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21–26</a:t>
            </a:r>
          </a:p>
        </p:txBody>
      </p:sp>
      <p:sp>
        <p:nvSpPr>
          <p:cNvPr id="34" name="focus-waves">
            <a:extLst xmlns:a="http://schemas.openxmlformats.org/drawingml/2006/main">
              <a:ext uri="{FF2B5EF4-FFF2-40B4-BE49-F238E27FC236}">
                <a16:creationId xmlns:a16="http://schemas.microsoft.com/office/drawing/2014/main" id="{30FEA661-DB3A-47EB-B6B8-BC7D57C9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000" y="4436100"/>
            <a:ext cx="29700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Waves, light, sound and</a:t>
            </a:r>
          </a:p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Doppler effect</a:t>
            </a:r>
          </a:p>
        </p:txBody>
      </p:sp>
      <p:sp>
        <p:nvSpPr>
          <p:cNvPr id="35" name="ial-waves">
            <a:extLst xmlns:a="http://schemas.openxmlformats.org/drawingml/2006/main">
              <a:ext uri="{FF2B5EF4-FFF2-40B4-BE49-F238E27FC236}">
                <a16:creationId xmlns:a16="http://schemas.microsoft.com/office/drawing/2014/main" id="{499B4E77-4D59-4C37-9590-10690A13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00" y="4563000"/>
            <a:ext cx="3240000" cy="2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Selected Unit 2 waves + Unit 5 Doppler</a:t>
            </a:r>
          </a:p>
        </p:txBody>
      </p:sp>
      <p:sp>
        <p:nvSpPr>
          <p:cNvPr id="36" name="map-circle-27">
            <a:extLst xmlns:a="http://schemas.openxmlformats.org/drawingml/2006/main">
              <a:ext uri="{FF2B5EF4-FFF2-40B4-BE49-F238E27FC236}">
                <a16:creationId xmlns:a16="http://schemas.microsoft.com/office/drawing/2014/main" id="{35F0D193-A5C3-4EC6-9D16-E4FE7408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00" y="4617000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00">
            <a:solidFill>
              <a:srgbClr val="B52643"/>
            </a:solidFill>
          </a:ln>
        </p:spPr>
      </p:sp>
      <p:sp>
        <p:nvSpPr>
          <p:cNvPr id="37" name="match-waves">
            <a:extLst xmlns:a="http://schemas.openxmlformats.org/drawingml/2006/main">
              <a:ext uri="{FF2B5EF4-FFF2-40B4-BE49-F238E27FC236}">
                <a16:creationId xmlns:a16="http://schemas.microsoft.com/office/drawing/2014/main" id="{8EEEE947-0D1E-4B29-A589-3D0FDA7E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000" y="4563000"/>
            <a:ext cx="1710000" cy="2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1">
                <a:solidFill>
                  <a:srgbClr val="B526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B52643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B52643"/>
                </a:solidFill>
                <a:latin typeface="Arial"/>
                <a:ea typeface="Arial"/>
                <a:cs typeface="Arial"/>
              </a:rPr>
              <a:t>Partial match</a:t>
            </a:r>
          </a:p>
        </p:txBody>
      </p:sp>
      <p:sp>
        <p:nvSpPr>
          <p:cNvPr id="38" name="development-waves">
            <a:extLst xmlns:a="http://schemas.openxmlformats.org/drawingml/2006/main">
              <a:ext uri="{FF2B5EF4-FFF2-40B4-BE49-F238E27FC236}">
                <a16:creationId xmlns:a16="http://schemas.microsoft.com/office/drawing/2014/main" id="{2C09D52E-80A9-467F-A040-F0757EE8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4450500"/>
            <a:ext cx="387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Add interference, diffraction, polarisation and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quantum physics.</a:t>
            </a:r>
          </a:p>
        </p:txBody>
      </p:sp>
      <p:sp>
        <p:nvSpPr>
          <p:cNvPr id="39" name="map-line-28">
            <a:extLst xmlns:a="http://schemas.openxmlformats.org/drawingml/2006/main">
              <a:ext uri="{FF2B5EF4-FFF2-40B4-BE49-F238E27FC236}">
                <a16:creationId xmlns:a16="http://schemas.microsoft.com/office/drawing/2014/main" id="{44B9B807-ACCA-4250-B931-C25688BC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049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00">
            <a:solidFill>
              <a:srgbClr val="DCE3EC"/>
            </a:solidFill>
          </a:ln>
        </p:spPr>
      </p:sp>
      <p:sp>
        <p:nvSpPr>
          <p:cNvPr id="40" name="map-rect-29">
            <a:extLst xmlns:a="http://schemas.openxmlformats.org/drawingml/2006/main">
              <a:ext uri="{FF2B5EF4-FFF2-40B4-BE49-F238E27FC236}">
                <a16:creationId xmlns:a16="http://schemas.microsoft.com/office/drawing/2014/main" id="{6FEB027A-415D-4E34-BED3-F184ED3F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049000"/>
            <a:ext cx="36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</a:ln>
        </p:spPr>
      </p:sp>
      <p:sp>
        <p:nvSpPr>
          <p:cNvPr id="41" name="map-text-30">
            <a:extLst xmlns:a="http://schemas.openxmlformats.org/drawingml/2006/main">
              <a:ext uri="{FF2B5EF4-FFF2-40B4-BE49-F238E27FC236}">
                <a16:creationId xmlns:a16="http://schemas.microsoft.com/office/drawing/2014/main" id="{E2643445-2D0A-4D3C-B339-FAD2B63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5296320"/>
            <a:ext cx="8100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2055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27–31</a:t>
            </a:r>
          </a:p>
        </p:txBody>
      </p:sp>
      <p:sp>
        <p:nvSpPr>
          <p:cNvPr id="42" name="focus-density">
            <a:extLst xmlns:a="http://schemas.openxmlformats.org/drawingml/2006/main">
              <a:ext uri="{FF2B5EF4-FFF2-40B4-BE49-F238E27FC236}">
                <a16:creationId xmlns:a16="http://schemas.microsoft.com/office/drawing/2014/main" id="{24D986A1-4898-4280-A38F-6F6C9FCF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000" y="5210100"/>
            <a:ext cx="29700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Density, pressure and</a:t>
            </a:r>
          </a:p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hydrostatics</a:t>
            </a:r>
          </a:p>
        </p:txBody>
      </p:sp>
      <p:sp>
        <p:nvSpPr>
          <p:cNvPr id="43" name="ial-density">
            <a:extLst xmlns:a="http://schemas.openxmlformats.org/drawingml/2006/main">
              <a:ext uri="{FF2B5EF4-FFF2-40B4-BE49-F238E27FC236}">
                <a16:creationId xmlns:a16="http://schemas.microsoft.com/office/drawing/2014/main" id="{795A972D-DC28-4E08-AAD0-7069E7CA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00" y="5224500"/>
            <a:ext cx="324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Unit 1 density; pressure is additional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44" name="map-circle-31">
            <a:extLst xmlns:a="http://schemas.openxmlformats.org/drawingml/2006/main">
              <a:ext uri="{FF2B5EF4-FFF2-40B4-BE49-F238E27FC236}">
                <a16:creationId xmlns:a16="http://schemas.microsoft.com/office/drawing/2014/main" id="{BC08F3AA-6F8F-4134-93C2-876B25C6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00" y="5391000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00">
            <a:solidFill>
              <a:srgbClr val="B52643"/>
            </a:solidFill>
          </a:ln>
        </p:spPr>
      </p:sp>
      <p:sp>
        <p:nvSpPr>
          <p:cNvPr id="45" name="match-density">
            <a:extLst xmlns:a="http://schemas.openxmlformats.org/drawingml/2006/main">
              <a:ext uri="{FF2B5EF4-FFF2-40B4-BE49-F238E27FC236}">
                <a16:creationId xmlns:a16="http://schemas.microsoft.com/office/drawing/2014/main" id="{17C62C5D-FF86-49E6-AB3F-D995AC2B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000" y="5337000"/>
            <a:ext cx="1710000" cy="2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1">
                <a:solidFill>
                  <a:srgbClr val="B526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B52643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B52643"/>
                </a:solidFill>
                <a:latin typeface="Arial"/>
                <a:ea typeface="Arial"/>
                <a:cs typeface="Arial"/>
              </a:rPr>
              <a:t>Partial match</a:t>
            </a:r>
          </a:p>
        </p:txBody>
      </p:sp>
      <p:sp>
        <p:nvSpPr>
          <p:cNvPr id="46" name="development-density">
            <a:extLst xmlns:a="http://schemas.openxmlformats.org/drawingml/2006/main">
              <a:ext uri="{FF2B5EF4-FFF2-40B4-BE49-F238E27FC236}">
                <a16:creationId xmlns:a16="http://schemas.microsoft.com/office/drawing/2014/main" id="{9D704C44-2B90-4579-A71F-7F2E7BE1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5224500"/>
            <a:ext cx="387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Add upthrust, viscosity and solid-material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mechanics.</a:t>
            </a:r>
          </a:p>
        </p:txBody>
      </p:sp>
      <p:sp>
        <p:nvSpPr>
          <p:cNvPr id="47" name="map-line-32">
            <a:extLst xmlns:a="http://schemas.openxmlformats.org/drawingml/2006/main">
              <a:ext uri="{FF2B5EF4-FFF2-40B4-BE49-F238E27FC236}">
                <a16:creationId xmlns:a16="http://schemas.microsoft.com/office/drawing/2014/main" id="{30ACAB98-F7EA-4FD8-9753-95AAB04F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823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00">
            <a:solidFill>
              <a:srgbClr val="DCE3EC"/>
            </a:solidFill>
          </a:ln>
        </p:spPr>
      </p:sp>
      <p:sp>
        <p:nvSpPr>
          <p:cNvPr id="48" name="map-rect-33">
            <a:extLst xmlns:a="http://schemas.openxmlformats.org/drawingml/2006/main">
              <a:ext uri="{FF2B5EF4-FFF2-40B4-BE49-F238E27FC236}">
                <a16:creationId xmlns:a16="http://schemas.microsoft.com/office/drawing/2014/main" id="{B25451CA-9D0B-4B1D-BD06-D8BFB50B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823000"/>
            <a:ext cx="14112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B"/>
          </a:solidFill>
          <a:ln xmlns:a="http://schemas.openxmlformats.org/drawingml/2006/main" w="0">
            <a:noFill/>
          </a:ln>
        </p:spPr>
      </p:sp>
      <p:sp>
        <p:nvSpPr>
          <p:cNvPr id="49" name="map-rect-34">
            <a:extLst xmlns:a="http://schemas.openxmlformats.org/drawingml/2006/main">
              <a:ext uri="{FF2B5EF4-FFF2-40B4-BE49-F238E27FC236}">
                <a16:creationId xmlns:a16="http://schemas.microsoft.com/office/drawing/2014/main" id="{53BB99E7-573A-4D65-AFE9-1F73C462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5823000"/>
            <a:ext cx="36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</a:ln>
        </p:spPr>
      </p:sp>
      <p:sp>
        <p:nvSpPr>
          <p:cNvPr id="50" name="map-text-35">
            <a:extLst xmlns:a="http://schemas.openxmlformats.org/drawingml/2006/main">
              <a:ext uri="{FF2B5EF4-FFF2-40B4-BE49-F238E27FC236}">
                <a16:creationId xmlns:a16="http://schemas.microsoft.com/office/drawing/2014/main" id="{E4A25255-31C5-4379-82C2-ABA181F3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6070320"/>
            <a:ext cx="8100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2055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31–36</a:t>
            </a:r>
          </a:p>
        </p:txBody>
      </p:sp>
      <p:sp>
        <p:nvSpPr>
          <p:cNvPr id="51" name="focus-thermal-transfer">
            <a:extLst xmlns:a="http://schemas.openxmlformats.org/drawingml/2006/main">
              <a:ext uri="{FF2B5EF4-FFF2-40B4-BE49-F238E27FC236}">
                <a16:creationId xmlns:a16="http://schemas.microsoft.com/office/drawing/2014/main" id="{427A24B7-C311-4AA8-8E65-2D96B9A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000" y="5984100"/>
            <a:ext cx="29700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Conduction, convection and</a:t>
            </a:r>
          </a:p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radiation</a:t>
            </a:r>
          </a:p>
        </p:txBody>
      </p:sp>
      <p:sp>
        <p:nvSpPr>
          <p:cNvPr id="52" name="ial-thermal-transfer">
            <a:extLst xmlns:a="http://schemas.openxmlformats.org/drawingml/2006/main">
              <a:ext uri="{FF2B5EF4-FFF2-40B4-BE49-F238E27FC236}">
                <a16:creationId xmlns:a16="http://schemas.microsoft.com/office/drawing/2014/main" id="{652CD255-FDF5-4F09-84B4-C3059208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00" y="5998500"/>
            <a:ext cx="324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Foundation for thermal and radiation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study</a:t>
            </a:r>
          </a:p>
        </p:txBody>
      </p:sp>
      <p:sp>
        <p:nvSpPr>
          <p:cNvPr id="53" name="map-path-36">
            <a:extLst xmlns:a="http://schemas.openxmlformats.org/drawingml/2006/main">
              <a:ext uri="{FF2B5EF4-FFF2-40B4-BE49-F238E27FC236}">
                <a16:creationId xmlns:a16="http://schemas.microsoft.com/office/drawing/2014/main" id="{E3C92A40-F664-4ECC-AC2D-250923B3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000" y="6156000"/>
            <a:ext cx="108000" cy="108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00">
            <a:solidFill>
              <a:srgbClr val="53647A"/>
            </a:solidFill>
          </a:ln>
        </p:spPr>
      </p:sp>
      <p:sp>
        <p:nvSpPr>
          <p:cNvPr id="54" name="match-thermal-transfer">
            <a:extLst xmlns:a="http://schemas.openxmlformats.org/drawingml/2006/main">
              <a:ext uri="{FF2B5EF4-FFF2-40B4-BE49-F238E27FC236}">
                <a16:creationId xmlns:a16="http://schemas.microsoft.com/office/drawing/2014/main" id="{96808B71-5C29-4447-8DE8-ADB56268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000" y="6003000"/>
            <a:ext cx="1710000" cy="51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Additional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55" name="development-thermal-transfer">
            <a:extLst xmlns:a="http://schemas.openxmlformats.org/drawingml/2006/main">
              <a:ext uri="{FF2B5EF4-FFF2-40B4-BE49-F238E27FC236}">
                <a16:creationId xmlns:a16="http://schemas.microsoft.com/office/drawing/2014/main" id="{43A53FB7-6CE7-4A2C-98FA-09F3CE4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5998500"/>
            <a:ext cx="387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Do not equate this with Unit 5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thermodynamics.</a:t>
            </a:r>
          </a:p>
        </p:txBody>
      </p:sp>
      <p:sp>
        <p:nvSpPr>
          <p:cNvPr id="56" name="map-line-37">
            <a:extLst xmlns:a="http://schemas.openxmlformats.org/drawingml/2006/main">
              <a:ext uri="{FF2B5EF4-FFF2-40B4-BE49-F238E27FC236}">
                <a16:creationId xmlns:a16="http://schemas.microsoft.com/office/drawing/2014/main" id="{E0E926DB-7354-4E87-A211-6894615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597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00">
            <a:solidFill>
              <a:srgbClr val="DCE3EC"/>
            </a:solidFill>
          </a:ln>
        </p:spPr>
      </p:sp>
      <p:sp>
        <p:nvSpPr>
          <p:cNvPr id="57" name="map-rect-38">
            <a:extLst xmlns:a="http://schemas.openxmlformats.org/drawingml/2006/main">
              <a:ext uri="{FF2B5EF4-FFF2-40B4-BE49-F238E27FC236}">
                <a16:creationId xmlns:a16="http://schemas.microsoft.com/office/drawing/2014/main" id="{E96337D6-C5EB-4DDC-B2BF-ED644E2E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6597000"/>
            <a:ext cx="36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</a:ln>
        </p:spPr>
      </p:sp>
      <p:sp>
        <p:nvSpPr>
          <p:cNvPr id="58" name="map-text-39">
            <a:extLst xmlns:a="http://schemas.openxmlformats.org/drawingml/2006/main">
              <a:ext uri="{FF2B5EF4-FFF2-40B4-BE49-F238E27FC236}">
                <a16:creationId xmlns:a16="http://schemas.microsoft.com/office/drawing/2014/main" id="{F5D1B56F-861C-4A2C-9A05-D296481F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6844320"/>
            <a:ext cx="8100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55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2055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36–42</a:t>
            </a:r>
          </a:p>
        </p:txBody>
      </p:sp>
      <p:sp>
        <p:nvSpPr>
          <p:cNvPr id="59" name="focus-thermal-gases">
            <a:extLst xmlns:a="http://schemas.openxmlformats.org/drawingml/2006/main">
              <a:ext uri="{FF2B5EF4-FFF2-40B4-BE49-F238E27FC236}">
                <a16:creationId xmlns:a16="http://schemas.microsoft.com/office/drawing/2014/main" id="{E75D55F8-1316-4947-8E67-EBC4B476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000" y="6758100"/>
            <a:ext cx="29700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Heat, internal energy and ideal</a:t>
            </a:r>
          </a:p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gases</a:t>
            </a:r>
          </a:p>
        </p:txBody>
      </p:sp>
      <p:sp>
        <p:nvSpPr>
          <p:cNvPr id="60" name="ial-thermal-gases">
            <a:extLst xmlns:a="http://schemas.openxmlformats.org/drawingml/2006/main">
              <a:ext uri="{FF2B5EF4-FFF2-40B4-BE49-F238E27FC236}">
                <a16:creationId xmlns:a16="http://schemas.microsoft.com/office/drawing/2014/main" id="{5E73C147-B339-450B-9F0A-C421942B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00" y="6772500"/>
            <a:ext cx="324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Unit 5 thermodynamics: 125, 128-130,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132</a:t>
            </a:r>
          </a:p>
        </p:txBody>
      </p:sp>
      <p:sp>
        <p:nvSpPr>
          <p:cNvPr id="61" name="map-circle-40">
            <a:extLst xmlns:a="http://schemas.openxmlformats.org/drawingml/2006/main">
              <a:ext uri="{FF2B5EF4-FFF2-40B4-BE49-F238E27FC236}">
                <a16:creationId xmlns:a16="http://schemas.microsoft.com/office/drawing/2014/main" id="{11F6A1FF-251A-4E34-9327-5D76D130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00" y="6939000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7BD"/>
          </a:solidFill>
          <a:ln xmlns:a="http://schemas.openxmlformats.org/drawingml/2006/main" w="0">
            <a:noFill/>
          </a:ln>
        </p:spPr>
      </p:sp>
      <p:sp>
        <p:nvSpPr>
          <p:cNvPr id="62" name="match-thermal-gases">
            <a:extLst xmlns:a="http://schemas.openxmlformats.org/drawingml/2006/main">
              <a:ext uri="{FF2B5EF4-FFF2-40B4-BE49-F238E27FC236}">
                <a16:creationId xmlns:a16="http://schemas.microsoft.com/office/drawing/2014/main" id="{7DEAC5EC-15CF-4639-B520-5FB5FF6C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000" y="6777000"/>
            <a:ext cx="1710000" cy="51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Substantial topic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63" name="development-thermal-gases">
            <a:extLst xmlns:a="http://schemas.openxmlformats.org/drawingml/2006/main">
              <a:ext uri="{FF2B5EF4-FFF2-40B4-BE49-F238E27FC236}">
                <a16:creationId xmlns:a16="http://schemas.microsoft.com/office/drawing/2014/main" id="{1960A95B-80E6-4BB6-A595-AF8AC087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6772500"/>
            <a:ext cx="387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Verify derivations and specified practical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methods.</a:t>
            </a:r>
          </a:p>
        </p:txBody>
      </p:sp>
      <p:sp>
        <p:nvSpPr>
          <p:cNvPr id="64" name="map-line-41">
            <a:extLst xmlns:a="http://schemas.openxmlformats.org/drawingml/2006/main">
              <a:ext uri="{FF2B5EF4-FFF2-40B4-BE49-F238E27FC236}">
                <a16:creationId xmlns:a16="http://schemas.microsoft.com/office/drawing/2014/main" id="{F02B34D1-432D-477F-B360-3A1348A7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7371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00">
            <a:solidFill>
              <a:srgbClr val="DCE3EC"/>
            </a:solidFill>
          </a:ln>
        </p:spPr>
      </p:sp>
      <p:sp>
        <p:nvSpPr>
          <p:cNvPr id="65" name="map-rect-42">
            <a:extLst xmlns:a="http://schemas.openxmlformats.org/drawingml/2006/main">
              <a:ext uri="{FF2B5EF4-FFF2-40B4-BE49-F238E27FC236}">
                <a16:creationId xmlns:a16="http://schemas.microsoft.com/office/drawing/2014/main" id="{16CF2264-FA65-459B-9718-48F60DF1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7371000"/>
            <a:ext cx="14112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B"/>
          </a:solidFill>
          <a:ln xmlns:a="http://schemas.openxmlformats.org/drawingml/2006/main" w="0">
            <a:noFill/>
          </a:ln>
        </p:spPr>
      </p:sp>
      <p:sp>
        <p:nvSpPr>
          <p:cNvPr id="66" name="map-rect-43">
            <a:extLst xmlns:a="http://schemas.openxmlformats.org/drawingml/2006/main">
              <a:ext uri="{FF2B5EF4-FFF2-40B4-BE49-F238E27FC236}">
                <a16:creationId xmlns:a16="http://schemas.microsoft.com/office/drawing/2014/main" id="{F7632E21-2458-49EF-9F66-ABE84D0D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7371000"/>
            <a:ext cx="36000" cy="7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</a:ln>
        </p:spPr>
      </p:sp>
      <p:sp>
        <p:nvSpPr>
          <p:cNvPr id="67" name="map-text-44">
            <a:extLst xmlns:a="http://schemas.openxmlformats.org/drawingml/2006/main">
              <a:ext uri="{FF2B5EF4-FFF2-40B4-BE49-F238E27FC236}">
                <a16:creationId xmlns:a16="http://schemas.microsoft.com/office/drawing/2014/main" id="{7098E711-3D4A-4AB5-A3EF-5BA05764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534440"/>
            <a:ext cx="1071000" cy="49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38889"/>
              </a:lnSpc>
              <a:buNone/>
              <a:defRPr sz="1276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Across year;</a:t>
            </a:r>
          </a:p>
          <a:p xmlns:a="http://schemas.openxmlformats.org/drawingml/2006/main">
            <a:pPr algn="l">
              <a:lnSpc>
                <a:spcPct val="138889"/>
              </a:lnSpc>
              <a:buNone/>
              <a:defRPr sz="1276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43–44</a:t>
            </a:r>
          </a:p>
        </p:txBody>
      </p:sp>
      <p:sp>
        <p:nvSpPr>
          <p:cNvPr id="68" name="focus-practical-assessment">
            <a:extLst xmlns:a="http://schemas.openxmlformats.org/drawingml/2006/main">
              <a:ext uri="{FF2B5EF4-FFF2-40B4-BE49-F238E27FC236}">
                <a16:creationId xmlns:a16="http://schemas.microsoft.com/office/drawing/2014/main" id="{9A6D9AB9-036E-4238-8016-53ECAA6D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000" y="7532100"/>
            <a:ext cx="29700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Practical work, review and</a:t>
            </a:r>
          </a:p>
          <a:p xmlns:a="http://schemas.openxmlformats.org/drawingml/2006/main">
            <a:pPr algn="l">
              <a:lnSpc>
                <a:spcPct val="118182"/>
              </a:lnSpc>
              <a:buNone/>
              <a:defRPr sz="1559" b="1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559" b="1">
                <a:solidFill>
                  <a:srgbClr val="172E4D"/>
                </a:solidFill>
                <a:latin typeface="Arial"/>
                <a:ea typeface="Arial"/>
                <a:cs typeface="Arial"/>
              </a:rPr>
              <a:t>examination</a:t>
            </a:r>
          </a:p>
        </p:txBody>
      </p:sp>
      <p:sp>
        <p:nvSpPr>
          <p:cNvPr id="69" name="ial-practical-assessment">
            <a:extLst xmlns:a="http://schemas.openxmlformats.org/drawingml/2006/main">
              <a:ext uri="{FF2B5EF4-FFF2-40B4-BE49-F238E27FC236}">
                <a16:creationId xmlns:a16="http://schemas.microsoft.com/office/drawing/2014/main" id="{C6E13554-EA72-4016-A5F6-AEB96D34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000" y="7546500"/>
            <a:ext cx="324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Units 3 and 6 practical skills need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57BD"/>
                </a:solidFill>
                <a:latin typeface="Arial"/>
                <a:ea typeface="Arial"/>
                <a:cs typeface="Arial"/>
              </a:rPr>
              <a:t>explicit evidence</a:t>
            </a:r>
          </a:p>
        </p:txBody>
      </p:sp>
      <p:sp>
        <p:nvSpPr>
          <p:cNvPr id="70" name="map-circle-45">
            <a:extLst xmlns:a="http://schemas.openxmlformats.org/drawingml/2006/main">
              <a:ext uri="{FF2B5EF4-FFF2-40B4-BE49-F238E27FC236}">
                <a16:creationId xmlns:a16="http://schemas.microsoft.com/office/drawing/2014/main" id="{2F47BC37-9A5D-4768-AABC-761F5150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00" y="7713000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00">
            <a:solidFill>
              <a:srgbClr val="B52643"/>
            </a:solidFill>
          </a:ln>
        </p:spPr>
      </p:sp>
      <p:sp>
        <p:nvSpPr>
          <p:cNvPr id="71" name="match-practical-assessment">
            <a:extLst xmlns:a="http://schemas.openxmlformats.org/drawingml/2006/main">
              <a:ext uri="{FF2B5EF4-FFF2-40B4-BE49-F238E27FC236}">
                <a16:creationId xmlns:a16="http://schemas.microsoft.com/office/drawing/2014/main" id="{69CD5EAE-F2F8-43B1-87DF-459E1515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000" y="7659000"/>
            <a:ext cx="1710000" cy="2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1">
                <a:solidFill>
                  <a:srgbClr val="B526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17" b="1">
                <a:solidFill>
                  <a:srgbClr val="B52643"/>
                </a:solidFill>
                <a:latin typeface="Arial"/>
                <a:ea typeface="Arial"/>
                <a:cs typeface="Arial"/>
              </a:defRPr>
            </a:pPr>
            <a:r>
              <a:rPr sz="1417" b="1">
                <a:solidFill>
                  <a:srgbClr val="B52643"/>
                </a:solidFill>
                <a:latin typeface="Arial"/>
                <a:ea typeface="Arial"/>
                <a:cs typeface="Arial"/>
              </a:rPr>
              <a:t>Partial match</a:t>
            </a:r>
          </a:p>
        </p:txBody>
      </p:sp>
      <p:sp>
        <p:nvSpPr>
          <p:cNvPr id="72" name="development-practical-assessment">
            <a:extLst xmlns:a="http://schemas.openxmlformats.org/drawingml/2006/main">
              <a:ext uri="{FF2B5EF4-FFF2-40B4-BE49-F238E27FC236}">
                <a16:creationId xmlns:a16="http://schemas.microsoft.com/office/drawing/2014/main" id="{B807B846-4196-491D-935D-ECA898F3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00" y="7546500"/>
            <a:ext cx="387000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Teach planning, graphs, uncertainty and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17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417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evaluation throughout.</a:t>
            </a:r>
          </a:p>
        </p:txBody>
      </p:sp>
      <p:sp>
        <p:nvSpPr>
          <p:cNvPr id="73" name="map-line-46">
            <a:extLst xmlns:a="http://schemas.openxmlformats.org/drawingml/2006/main">
              <a:ext uri="{FF2B5EF4-FFF2-40B4-BE49-F238E27FC236}">
                <a16:creationId xmlns:a16="http://schemas.microsoft.com/office/drawing/2014/main" id="{D381EE4A-D7C0-4B17-81D5-502C0670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145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00">
            <a:solidFill>
              <a:srgbClr val="DCE3EC"/>
            </a:solidFill>
          </a:ln>
        </p:spPr>
      </p:sp>
      <p:sp>
        <p:nvSpPr>
          <p:cNvPr id="74" name="map-line-47">
            <a:extLst xmlns:a="http://schemas.openxmlformats.org/drawingml/2006/main">
              <a:ext uri="{FF2B5EF4-FFF2-40B4-BE49-F238E27FC236}">
                <a16:creationId xmlns:a16="http://schemas.microsoft.com/office/drawing/2014/main" id="{1280D868-1FE5-40E6-8609-EA5B19FA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406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800">
            <a:solidFill>
              <a:srgbClr val="172E4D"/>
            </a:solidFill>
          </a:ln>
        </p:spPr>
      </p:sp>
      <p:sp>
        <p:nvSpPr>
          <p:cNvPr id="75" name="map-text-48">
            <a:extLst xmlns:a="http://schemas.openxmlformats.org/drawingml/2006/main">
              <a:ext uri="{FF2B5EF4-FFF2-40B4-BE49-F238E27FC236}">
                <a16:creationId xmlns:a16="http://schemas.microsoft.com/office/drawing/2014/main" id="{154F0CF5-9574-41B6-9BEB-38D4646B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604360"/>
            <a:ext cx="2502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205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HOW TO READ THE JUDGEMENT</a:t>
            </a:r>
          </a:p>
        </p:txBody>
      </p:sp>
      <p:sp>
        <p:nvSpPr>
          <p:cNvPr id="76" name="map-text-49">
            <a:extLst xmlns:a="http://schemas.openxmlformats.org/drawingml/2006/main">
              <a:ext uri="{FF2B5EF4-FFF2-40B4-BE49-F238E27FC236}">
                <a16:creationId xmlns:a16="http://schemas.microsoft.com/office/drawing/2014/main" id="{C50EC829-1EA3-4ABA-9387-F5BBE2DE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8884440"/>
            <a:ext cx="3168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Substantial: main ideas are explicitly listed.</a:t>
            </a:r>
          </a:p>
        </p:txBody>
      </p:sp>
      <p:sp>
        <p:nvSpPr>
          <p:cNvPr id="77" name="map-text-50">
            <a:extLst xmlns:a="http://schemas.openxmlformats.org/drawingml/2006/main">
              <a:ext uri="{FF2B5EF4-FFF2-40B4-BE49-F238E27FC236}">
                <a16:creationId xmlns:a16="http://schemas.microsoft.com/office/drawing/2014/main" id="{85F432F3-DC49-453C-9D54-02127AAC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127440"/>
            <a:ext cx="3519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Partial: further IAL depth or evidence is needed.</a:t>
            </a:r>
          </a:p>
        </p:txBody>
      </p:sp>
      <p:sp>
        <p:nvSpPr>
          <p:cNvPr id="78" name="map-text-51">
            <a:extLst xmlns:a="http://schemas.openxmlformats.org/drawingml/2006/main">
              <a:ext uri="{FF2B5EF4-FFF2-40B4-BE49-F238E27FC236}">
                <a16:creationId xmlns:a16="http://schemas.microsoft.com/office/drawing/2014/main" id="{9CF7E3FF-53A7-4ADD-8FBE-8FEE9624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370440"/>
            <a:ext cx="3357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Foundation: useful supporting school content.</a:t>
            </a:r>
          </a:p>
        </p:txBody>
      </p:sp>
      <p:sp>
        <p:nvSpPr>
          <p:cNvPr id="79" name="map-text-52">
            <a:extLst xmlns:a="http://schemas.openxmlformats.org/drawingml/2006/main">
              <a:ext uri="{FF2B5EF4-FFF2-40B4-BE49-F238E27FC236}">
                <a16:creationId xmlns:a16="http://schemas.microsoft.com/office/drawing/2014/main" id="{FF0F39B5-863F-4854-8C23-8AF99AEA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613440"/>
            <a:ext cx="3815859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Planned objectives do not certify assessed mastery.</a:t>
            </a:r>
          </a:p>
        </p:txBody>
      </p:sp>
      <p:sp>
        <p:nvSpPr>
          <p:cNvPr id="80" name="map-text-53">
            <a:extLst xmlns:a="http://schemas.openxmlformats.org/drawingml/2006/main">
              <a:ext uri="{FF2B5EF4-FFF2-40B4-BE49-F238E27FC236}">
                <a16:creationId xmlns:a16="http://schemas.microsoft.com/office/drawing/2014/main" id="{54B216C2-5159-4FCA-9ED6-25AB75CC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604360"/>
            <a:ext cx="2430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1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205" b="1">
                <a:solidFill>
                  <a:srgbClr val="1757BD"/>
                </a:solidFill>
                <a:latin typeface="Arial"/>
                <a:ea typeface="Arial"/>
                <a:cs typeface="Arial"/>
              </a:rPr>
              <a:t>CURRENT INTERACTIVE SCOPE</a:t>
            </a:r>
          </a:p>
        </p:txBody>
      </p:sp>
      <p:sp>
        <p:nvSpPr>
          <p:cNvPr id="81" name="map-text-54">
            <a:extLst xmlns:a="http://schemas.openxmlformats.org/drawingml/2006/main">
              <a:ext uri="{FF2B5EF4-FFF2-40B4-BE49-F238E27FC236}">
                <a16:creationId xmlns:a16="http://schemas.microsoft.com/office/drawing/2014/main" id="{545C5E65-06E4-43FF-B5F7-33ABECEA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8884440"/>
            <a:ext cx="3707859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16 first-term lessons cover mechanics and energy.</a:t>
            </a:r>
          </a:p>
        </p:txBody>
      </p:sp>
      <p:sp>
        <p:nvSpPr>
          <p:cNvPr id="82" name="map-text-55">
            <a:extLst xmlns:a="http://schemas.openxmlformats.org/drawingml/2006/main">
              <a:ext uri="{FF2B5EF4-FFF2-40B4-BE49-F238E27FC236}">
                <a16:creationId xmlns:a16="http://schemas.microsoft.com/office/drawing/2014/main" id="{6EDFEB4C-EB82-4966-B655-EEAB1AEB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9127440"/>
            <a:ext cx="3258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Later annual blocks are course destinations.</a:t>
            </a:r>
          </a:p>
        </p:txBody>
      </p:sp>
      <p:sp>
        <p:nvSpPr>
          <p:cNvPr id="83" name="map-text-56">
            <a:extLst xmlns:a="http://schemas.openxmlformats.org/drawingml/2006/main">
              <a:ext uri="{FF2B5EF4-FFF2-40B4-BE49-F238E27FC236}">
                <a16:creationId xmlns:a16="http://schemas.microsoft.com/office/drawing/2014/main" id="{FED46D5D-3D8B-4C75-B782-1C85425E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9370440"/>
            <a:ext cx="3455859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A topic title alone does not establish IAL depth,</a:t>
            </a:r>
          </a:p>
        </p:txBody>
      </p:sp>
      <p:sp>
        <p:nvSpPr>
          <p:cNvPr id="84" name="map-text-57">
            <a:extLst xmlns:a="http://schemas.openxmlformats.org/drawingml/2006/main">
              <a:ext uri="{FF2B5EF4-FFF2-40B4-BE49-F238E27FC236}">
                <a16:creationId xmlns:a16="http://schemas.microsoft.com/office/drawing/2014/main" id="{C0295509-E0F5-4925-AD4B-ECFE1B05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000" y="9613440"/>
            <a:ext cx="3420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mathematical fluency or practical competence.</a:t>
            </a:r>
          </a:p>
        </p:txBody>
      </p:sp>
      <p:sp>
        <p:nvSpPr>
          <p:cNvPr id="85" name="map-text-58">
            <a:extLst xmlns:a="http://schemas.openxmlformats.org/drawingml/2006/main">
              <a:ext uri="{FF2B5EF4-FFF2-40B4-BE49-F238E27FC236}">
                <a16:creationId xmlns:a16="http://schemas.microsoft.com/office/drawing/2014/main" id="{A9C8F74F-CD45-4CAF-BBC4-60A019EC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000" y="8604360"/>
            <a:ext cx="2583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5" b="1">
                <a:solidFill>
                  <a:srgbClr val="B526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5" b="1">
                <a:solidFill>
                  <a:srgbClr val="B52643"/>
                </a:solidFill>
                <a:latin typeface="Arial"/>
                <a:ea typeface="Arial"/>
                <a:cs typeface="Arial"/>
              </a:defRPr>
            </a:pPr>
            <a:r>
              <a:rPr sz="1205" b="1">
                <a:solidFill>
                  <a:srgbClr val="B52643"/>
                </a:solidFill>
                <a:latin typeface="Arial"/>
                <a:ea typeface="Arial"/>
                <a:cs typeface="Arial"/>
              </a:rPr>
              <a:t>FURTHER IAL TEACHING NEEDED</a:t>
            </a:r>
          </a:p>
        </p:txBody>
      </p:sp>
      <p:sp>
        <p:nvSpPr>
          <p:cNvPr id="86" name="map-text-59">
            <a:extLst xmlns:a="http://schemas.openxmlformats.org/drawingml/2006/main">
              <a:ext uri="{FF2B5EF4-FFF2-40B4-BE49-F238E27FC236}">
                <a16:creationId xmlns:a16="http://schemas.microsoft.com/office/drawing/2014/main" id="{4E396409-FACB-4EDD-A674-2E5A8661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000" y="8884440"/>
            <a:ext cx="3339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Unit 1 materials; Unit 2 circuits and advanced</a:t>
            </a:r>
          </a:p>
        </p:txBody>
      </p:sp>
      <p:sp>
        <p:nvSpPr>
          <p:cNvPr id="87" name="map-text-60">
            <a:extLst xmlns:a="http://schemas.openxmlformats.org/drawingml/2006/main">
              <a:ext uri="{FF2B5EF4-FFF2-40B4-BE49-F238E27FC236}">
                <a16:creationId xmlns:a16="http://schemas.microsoft.com/office/drawing/2014/main" id="{5D936036-C5C4-4342-9CD2-88908B3E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000" y="9127440"/>
            <a:ext cx="3456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waves/quantum; remaining Unit 4 and 5 topics;</a:t>
            </a:r>
          </a:p>
        </p:txBody>
      </p:sp>
      <p:sp>
        <p:nvSpPr>
          <p:cNvPr id="88" name="map-text-61">
            <a:extLst xmlns:a="http://schemas.openxmlformats.org/drawingml/2006/main">
              <a:ext uri="{FF2B5EF4-FFF2-40B4-BE49-F238E27FC236}">
                <a16:creationId xmlns:a16="http://schemas.microsoft.com/office/drawing/2014/main" id="{06CECF1C-9A17-4E6E-81DC-85173671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000" y="9370440"/>
            <a:ext cx="2403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and Units 3/6 practical methods.</a:t>
            </a:r>
          </a:p>
        </p:txBody>
      </p:sp>
      <p:sp>
        <p:nvSpPr>
          <p:cNvPr id="89" name="map-text-62">
            <a:extLst xmlns:a="http://schemas.openxmlformats.org/drawingml/2006/main">
              <a:ext uri="{FF2B5EF4-FFF2-40B4-BE49-F238E27FC236}">
                <a16:creationId xmlns:a16="http://schemas.microsoft.com/office/drawing/2014/main" id="{18D38F98-71E0-4918-8FF5-4A4AB88A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000" y="9613440"/>
            <a:ext cx="3285000" cy="2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6" b="0">
                <a:solidFill>
                  <a:srgbClr val="172E4D"/>
                </a:solidFill>
                <a:latin typeface="Arial"/>
                <a:ea typeface="Arial"/>
                <a:cs typeface="Arial"/>
              </a:defRPr>
            </a:pPr>
            <a:r>
              <a:rPr sz="1276" b="0">
                <a:solidFill>
                  <a:srgbClr val="172E4D"/>
                </a:solidFill>
                <a:latin typeface="Arial"/>
                <a:ea typeface="Arial"/>
                <a:cs typeface="Arial"/>
              </a:rPr>
              <a:t>No complete IAL unit is certified by this map.</a:t>
            </a:r>
          </a:p>
        </p:txBody>
      </p:sp>
      <p:sp>
        <p:nvSpPr>
          <p:cNvPr id="90" name="map-line-63">
            <a:extLst xmlns:a="http://schemas.openxmlformats.org/drawingml/2006/main">
              <a:ext uri="{FF2B5EF4-FFF2-40B4-BE49-F238E27FC236}">
                <a16:creationId xmlns:a16="http://schemas.microsoft.com/office/drawing/2014/main" id="{B5D1E334-EF3B-416D-9D5B-75822F60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9981000"/>
            <a:ext cx="14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000">
            <a:solidFill>
              <a:srgbClr val="DCE3EC"/>
            </a:solidFill>
          </a:ln>
        </p:spPr>
      </p:sp>
      <p:sp>
        <p:nvSpPr>
          <p:cNvPr id="91" name="map-text-64">
            <a:extLst xmlns:a="http://schemas.openxmlformats.org/drawingml/2006/main">
              <a:ext uri="{FF2B5EF4-FFF2-40B4-BE49-F238E27FC236}">
                <a16:creationId xmlns:a16="http://schemas.microsoft.com/office/drawing/2014/main" id="{AC828921-0CC9-4139-AE64-53882D89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0096200"/>
            <a:ext cx="7650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63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063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92" name="map-text-65">
            <a:extLst xmlns:a="http://schemas.openxmlformats.org/drawingml/2006/main">
              <a:ext uri="{FF2B5EF4-FFF2-40B4-BE49-F238E27FC236}">
                <a16:creationId xmlns:a16="http://schemas.microsoft.com/office/drawing/2014/main" id="{7D49FE3D-18D0-45FB-B516-04A26716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00" y="10088280"/>
            <a:ext cx="182700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4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34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34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Original school plan DOCX</a:t>
            </a:r>
          </a:p>
        </p:txBody>
      </p:sp>
      <p:sp>
        <p:nvSpPr>
          <p:cNvPr id="93" name="map-text-66">
            <a:extLst xmlns:a="http://schemas.openxmlformats.org/drawingml/2006/main">
              <a:ext uri="{FF2B5EF4-FFF2-40B4-BE49-F238E27FC236}">
                <a16:creationId xmlns:a16="http://schemas.microsoft.com/office/drawing/2014/main" id="{2D7EA196-0400-448D-ACD9-8507A31D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000" y="10088280"/>
            <a:ext cx="13500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4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34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34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·</a:t>
            </a:r>
          </a:p>
        </p:txBody>
      </p:sp>
      <p:sp>
        <p:nvSpPr>
          <p:cNvPr id="94" name="map-text-67">
            <a:extLst xmlns:a="http://schemas.openxmlformats.org/drawingml/2006/main">
              <a:ext uri="{FF2B5EF4-FFF2-40B4-BE49-F238E27FC236}">
                <a16:creationId xmlns:a16="http://schemas.microsoft.com/office/drawing/2014/main" id="{4E08DE80-F725-49E9-917F-A592EEC7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000" y="10088280"/>
            <a:ext cx="458100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4" b="0" u="sng">
                <a:solidFill>
                  <a:srgbClr val="1757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34" b="0" u="sng">
                <a:solidFill>
                  <a:srgbClr val="1757BD"/>
                </a:solidFill>
                <a:latin typeface="Arial"/>
                <a:ea typeface="Arial"/>
                <a:cs typeface="Arial"/>
              </a:defRPr>
            </a:pPr>
            <a:r>
              <a:rPr sz="1134" b="0" u="sng">
                <a:solidFill>
                  <a:srgbClr val="1757BD"/>
                </a:solidFill>
                <a:latin typeface="Arial"/>
                <a:ea typeface="Arial"/>
                <a:cs typeface="Arial"/>
                <a:hlinkClick xmlns:r="http://schemas.openxmlformats.org/officeDocument/2006/relationships" r:id="R440403dc055b4cb9"/>
              </a:rPr>
              <a:t>Pearson Edexcel IAL Physics · 2018 specification · Issue 3 (July 2021)</a:t>
            </a:r>
          </a:p>
        </p:txBody>
      </p:sp>
      <p:sp>
        <p:nvSpPr>
          <p:cNvPr id="95" name="map-text-68">
            <a:extLst xmlns:a="http://schemas.openxmlformats.org/drawingml/2006/main">
              <a:ext uri="{FF2B5EF4-FFF2-40B4-BE49-F238E27FC236}">
                <a16:creationId xmlns:a16="http://schemas.microsoft.com/office/drawing/2014/main" id="{29642DE1-767C-4CCC-85CD-478CA8DF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9000" y="10088280"/>
            <a:ext cx="245700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4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34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134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Original DOCX remains authoritative.</a:t>
            </a:r>
          </a:p>
        </p:txBody>
      </p:sp>
      <p:sp>
        <p:nvSpPr>
          <p:cNvPr id="96" name="map-text-69">
            <a:extLst xmlns:a="http://schemas.openxmlformats.org/drawingml/2006/main">
              <a:ext uri="{FF2B5EF4-FFF2-40B4-BE49-F238E27FC236}">
                <a16:creationId xmlns:a16="http://schemas.microsoft.com/office/drawing/2014/main" id="{979FB6E4-4ABF-4E1F-9815-B688766A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" y="10312200"/>
            <a:ext cx="6902859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63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063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Topic names are normalised for comparison; the source document’s equations are not silently corrected or replaced.</a:t>
            </a:r>
          </a:p>
        </p:txBody>
      </p:sp>
    </p:spTree>
    <p:extLst>
      <p:ext uri="{BB962C8B-B14F-4D97-AF65-F5344CB8AC3E}">
        <p14:creationId xmlns:p14="http://schemas.microsoft.com/office/powerpoint/2010/main" val="628526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2026-10-16T01:36:18.2110000Z</dcterms:created>
  <dcterms:modified xsi:type="dcterms:W3CDTF">2026-10-16T01:36:18.2110000Z</dcterms:modified>
</coreProperties>
</file>